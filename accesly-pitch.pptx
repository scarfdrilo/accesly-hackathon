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8B6CE7"/>
                </a:solidFill>
                <a:latin typeface="Arial"/>
              </a:defRPr>
            </a:pPr>
            <a:r>
              <a:t>Accesly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Focus on your value proposition.</a:t>
            </a:r>
            <a:br/>
            <a:r>
              <a:t>We handle the friction.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6CE7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Web3 security puts all responsibility on the user and users fail.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8B6CE7"/>
                </a:solidFill>
                <a:latin typeface="Arial"/>
              </a:defRPr>
            </a:pPr>
            <a:r>
              <a:t>$1.7B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D4CED9"/>
                </a:solidFill>
                <a:latin typeface="Arial"/>
              </a:defRPr>
            </a:pPr>
            <a:r>
              <a:t>Lost to key compromises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5F78"/>
                </a:solidFill>
                <a:latin typeface="Arial"/>
              </a:defRPr>
            </a:pPr>
            <a:r>
              <a:t>CertiK, H1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32004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8FAB"/>
                </a:solidFill>
                <a:latin typeface="Arial"/>
              </a:defRPr>
            </a:pPr>
            <a:r>
              <a:t>69%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D4CED9"/>
                </a:solidFill>
                <a:latin typeface="Arial"/>
              </a:defRPr>
            </a:pPr>
            <a:r>
              <a:t>From wallet compromises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572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5F78"/>
                </a:solidFill>
                <a:latin typeface="Arial"/>
              </a:defRPr>
            </a:pPr>
            <a:r>
              <a:t>CertiK, H1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45C9A8"/>
                </a:solidFill>
                <a:latin typeface="Arial"/>
              </a:defRPr>
            </a:pPr>
            <a:r>
              <a:t>3.7M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D4CED9"/>
                </a:solidFill>
                <a:latin typeface="Arial"/>
              </a:defRPr>
            </a:pPr>
            <a:r>
              <a:t>BTC lost to seed phrases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572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5F78"/>
                </a:solidFill>
                <a:latin typeface="Arial"/>
              </a:defRPr>
            </a:pPr>
            <a:r>
              <a:t>Ledger,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5C9A8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One click. 3 seconds. Your wallet is 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800" b="0">
                <a:solidFill>
                  <a:srgbClr val="D4CED9"/>
                </a:solidFill>
                <a:latin typeface="Arial"/>
              </a:defRPr>
            </a:pPr>
            <a:r>
              <a:t>    1️⃣ SIGN IN</a:t>
            </a:r>
            <a:br/>
            <a:r>
              <a:t>    Sign in with Google or Email</a:t>
            </a:r>
            <a:br/>
            <a:r>
              <a:t>    </a:t>
            </a:r>
            <a:br/>
            <a:r>
              <a:t>    ➡️</a:t>
            </a:r>
            <a:br/>
            <a:r>
              <a:t>    </a:t>
            </a:r>
            <a:br/>
            <a:r>
              <a:t>    2️⃣ WALLET CREATED</a:t>
            </a:r>
            <a:br/>
            <a:r>
              <a:t>    Your Stellar wallet is ready</a:t>
            </a:r>
            <a:br/>
            <a:r>
              <a:t>    Public Key: GAXK...7F2M</a:t>
            </a:r>
            <a:br/>
            <a:r>
              <a:t>    </a:t>
            </a:r>
            <a:br/>
            <a:r>
              <a:t>    ➡️</a:t>
            </a:r>
            <a:br/>
            <a:r>
              <a:t>    </a:t>
            </a:r>
            <a:br/>
            <a:r>
              <a:t>    3️⃣ READY TO TRANSACT</a:t>
            </a:r>
            <a:br/>
            <a:r>
              <a:t>    Balance: 0.00 XLM</a:t>
            </a:r>
            <a:br/>
            <a:r>
              <a:t>    Send | Receive</a:t>
            </a:r>
            <a:br/>
            <a:r>
              <a:t>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5943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E95A7"/>
                </a:solidFill>
                <a:latin typeface="Arial"/>
              </a:defRPr>
            </a:pPr>
            <a:r>
              <a:t>Powered by Etherfuse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6CE7"/>
                </a:solidFill>
                <a:latin typeface="Arial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Arial"/>
              </a:defRPr>
            </a:pPr>
            <a:r>
              <a:t>See it in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9E95A7"/>
                </a:solidFill>
                <a:latin typeface="Arial"/>
              </a:defRPr>
            </a:pPr>
            <a:r>
              <a:t>[Split screen: User view | Developer view]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5C9A8"/>
                </a:solidFill>
                <a:latin typeface="Arial"/>
              </a:defRPr>
            </a:pPr>
            <a: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Growing on Stellar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E95A7"/>
                </a:solidFill>
                <a:latin typeface="Arial"/>
              </a:defRPr>
            </a:pPr>
            <a:r>
              <a:t>Key metrics and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D4CED9"/>
                </a:solidFill>
                <a:latin typeface="Arial"/>
              </a:defRPr>
            </a:pPr>
            <a:r>
              <a:t>📈 Wallets Created - Real-time growth chart from Feb 10 to Mar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CED9"/>
                </a:solidFill>
                <a:latin typeface="Arial"/>
              </a:defRPr>
            </a:pPr>
            <a:r>
              <a:t>Wallets created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12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9E95A7"/>
                </a:solidFill>
                <a:latin typeface="Arial"/>
              </a:defRPr>
            </a:pPr>
            <a:r>
              <a:t>Real-time from Stellar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4114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3s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CED9"/>
                </a:solidFill>
                <a:latin typeface="Arial"/>
              </a:defRPr>
            </a:pPr>
            <a:r>
              <a:t>Onboarding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212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9E95A7"/>
                </a:solidFill>
                <a:latin typeface="Arial"/>
              </a:defRPr>
            </a:pPr>
            <a:r>
              <a:t>Average 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114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396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CED9"/>
                </a:solidFill>
                <a:latin typeface="Arial"/>
              </a:defRPr>
            </a:pPr>
            <a:r>
              <a:t>npm Downloads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212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9E95A7"/>
                </a:solidFill>
                <a:latin typeface="Arial"/>
              </a:defRPr>
            </a:pPr>
            <a:r>
              <a:t>First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1148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4CED9"/>
                </a:solidFill>
                <a:latin typeface="Arial"/>
              </a:defRPr>
            </a:pPr>
            <a:r>
              <a:t>Active integrations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5212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9E95A7"/>
                </a:solidFill>
                <a:latin typeface="Arial"/>
              </a:defRPr>
            </a:pPr>
            <a:r>
              <a:t>Developer projects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6CE7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From testnet to mainnet in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8B6CE7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6CE7"/>
                </a:solidFill>
                <a:latin typeface="Arial"/>
              </a:defRPr>
            </a:pPr>
            <a:r>
              <a:t>APR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B6CE7"/>
                </a:solidFill>
                <a:latin typeface="Arial"/>
              </a:defRPr>
            </a:pPr>
            <a:r>
              <a:t>Testnet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rial"/>
              </a:defRPr>
            </a:pPr>
            <a:r>
              <a:t>⚡ MPC wallet infrastructure</a:t>
            </a:r>
            <a:br/>
            <a:r>
              <a:t>⚡ x402 pay-as-you-use</a:t>
            </a:r>
            <a:br/>
            <a:r>
              <a:t>⚡ Full testnet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45C9A8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8346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5C9A8"/>
                </a:solidFill>
                <a:latin typeface="Arial"/>
              </a:defRPr>
            </a:pPr>
            <a:r>
              <a:t>MAY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5C9A8"/>
                </a:solidFill>
                <a:latin typeface="Arial"/>
              </a:defRPr>
            </a:pPr>
            <a:r>
              <a:t>Mainnet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8404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rial"/>
              </a:defRPr>
            </a:pPr>
            <a:r>
              <a:t>✓ Real users, real wallets</a:t>
            </a:r>
            <a:br/>
            <a:r>
              <a:t>✓ Developer payments live</a:t>
            </a:r>
            <a:br/>
            <a:r>
              <a:t>✓ Production-grade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2860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8FAB"/>
                </a:solidFill>
                <a:latin typeface="Arial"/>
              </a:defRPr>
            </a:pPr>
            <a: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8346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8FAB"/>
                </a:solidFill>
                <a:latin typeface="Arial"/>
              </a:defRPr>
            </a:pPr>
            <a:r>
              <a:t>JUN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8FAB"/>
                </a:solidFill>
                <a:latin typeface="Arial"/>
              </a:defRPr>
            </a:pPr>
            <a: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8404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rial"/>
              </a:defRPr>
            </a:pPr>
            <a:r>
              <a:t>◆ Etherfuse yield in Mexico</a:t>
            </a:r>
            <a:br/>
            <a:r>
              <a:t>◆ Enterprise migration layer</a:t>
            </a:r>
            <a:br/>
            <a:r>
              <a:t>◆ EVM↔Stellar bridge scoping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6CE7"/>
                </a:solidFill>
                <a:latin typeface="Arial"/>
              </a:defRPr>
            </a:pPr>
            <a:r>
              <a:t>ACCESLY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Arial"/>
              </a:defRPr>
            </a:pPr>
            <a:r>
              <a:t>Join us. Build with 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9E95A7"/>
                </a:solidFill>
                <a:latin typeface="Arial"/>
              </a:defRPr>
            </a:pPr>
            <a:r>
              <a:t>Scan to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5029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6B5F78"/>
                </a:solidFill>
                <a:latin typeface="Arial"/>
              </a:defRPr>
            </a:pPr>
            <a:r>
              <a:t>[QR CODE]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5943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4CED9"/>
                </a:solidFill>
                <a:latin typeface="Arial"/>
              </a:defRPr>
            </a:pPr>
            <a:r>
              <a:t>@accesly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